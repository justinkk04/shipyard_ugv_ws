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76672"/>
            <a:ext cx="12191695" cy="1481328"/>
          </a:xfrm>
          <a:prstGeom prst="rect">
            <a:avLst/>
          </a:prstGeom>
          <a:solidFill>
            <a:srgbClr val="0B4F8A">
              <a:alpha val="80000"/>
            </a:srgbClr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77240"/>
            <a:ext cx="65836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Simulation-Based Autonomous UGV for Indoor Shipyard Corridor Inspection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94944" y="1920240"/>
            <a:ext cx="6217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9E7F5"/>
                </a:solidFill>
              </a:rPr>
              <a:t>Predefined waypoint route, 2D LiDAR safety layer, and mission telemetry in ROS 2 + Gazebo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4944" y="5806440"/>
            <a:ext cx="7680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Final Design Presentation | EEL 5606 Introduction to Mobile Robotics and Unmanned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6172200"/>
            <a:ext cx="3108960" cy="384048"/>
          </a:xfrm>
          <a:prstGeom prst="rect">
            <a:avLst/>
          </a:prstGeom>
          <a:solidFill>
            <a:srgbClr val="113A5C"/>
          </a:solidFill>
          <a:ln>
            <a:solidFill>
              <a:srgbClr val="68B7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5FF"/>
                </a:solidFill>
              </a:rPr>
              <a:t>PLACEHOLDER: replace image with 10–15 sec intro clip of Gazebo robot launching</a:t>
            </a:r>
            <a:endParaRPr lang="en-US" sz="1200" dirty="0"/>
          </a:p>
        </p:txBody>
      </p:sp>
      <p:pic>
        <p:nvPicPr>
          <p:cNvPr id="8" name="Image 0" descr="/mnt/data/image(9).png">    </p:cNvPr>
          <p:cNvPicPr>
            <a:picLocks noChangeAspect="1"/>
          </p:cNvPicPr>
          <p:nvPr/>
        </p:nvPicPr>
        <p:blipFill>
          <a:blip r:embed="rId1"/>
          <a:srcRect l="5000" r="59952" t="8000" b="30000"/>
          <a:stretch/>
        </p:blipFill>
        <p:spPr>
          <a:xfrm>
            <a:off x="7315200" y="777240"/>
            <a:ext cx="416052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0" y="777240"/>
            <a:ext cx="4160520" cy="4343400"/>
          </a:xfrm>
          <a:prstGeom prst="rect">
            <a:avLst/>
          </a:prstGeom>
          <a:solidFill>
            <a:srgbClr val="0B1F33">
              <a:alpha val="0"/>
            </a:srgbClr>
          </a:solidFill>
          <a:ln w="15240">
            <a:solidFill>
              <a:srgbClr val="71C7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Purpose + stakeholders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804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MISSION NEED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55321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Send a simulated UGV into a known indoor shipyard or port maintenance corridor after a suspected obstruction, alarm, or hazard so personnel get a first-look status without entering first.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5303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24313D"/>
                </a:solidFill>
              </a:rPr>
              <a:t>Simulation-only prototype using ROS 2 Humble, Gazebo/Ignition, and optional RViz.</a:t>
            </a:r>
            <a:endParaRPr lang="en-US" sz="1450" dirty="0"/>
          </a:p>
          <a:p>
            <a:r>
              <a:rPr lang="en-US" sz="1450" dirty="0">
                <a:solidFill>
                  <a:srgbClr val="24313D"/>
                </a:solidFill>
              </a:rPr>
              <a:t>2WD differential-drive rover with caster, odometry, IMU, 2D LiDAR/range sensing, and simulated health/battery data.</a:t>
            </a:r>
            <a:endParaRPr lang="en-US" sz="1450" dirty="0"/>
          </a:p>
          <a:p>
            <a:r>
              <a:rPr lang="en-US" sz="1450" dirty="0">
                <a:solidFill>
                  <a:srgbClr val="24313D"/>
                </a:solidFill>
              </a:rPr>
              <a:t>Mission behaviors: start on command, follow predefined route, respond to obstacles, safe-stop if blocked, log mission outcome.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29400" y="804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942"/>
                </a:solidFill>
              </a:rPr>
              <a:t>STAKEHOLDERS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29400" y="1143000"/>
            <a:ext cx="4526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F8A"/>
                </a:solidFill>
              </a:rPr>
              <a:t>Primary user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1435608"/>
            <a:ext cx="452628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</a:rPr>
              <a:t>Operator or maintenance lead reviewing a corridor before sending personnel.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526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Beneficiaries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2350008"/>
            <a:ext cx="452628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</a:rPr>
              <a:t>Shipyard/port maintenance crews, safety managers, emergency response coordinators, and operations supervisors.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3749040"/>
            <a:ext cx="1874520" cy="274320"/>
          </a:xfrm>
          <a:prstGeom prst="rect">
            <a:avLst/>
          </a:prstGeom>
          <a:solidFill>
            <a:srgbClr val="2ECC71"/>
          </a:solidFill>
          <a:ln>
            <a:solidFill>
              <a:srgbClr val="2ECC71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4059936"/>
            <a:ext cx="1874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COMPLETE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32520" y="3749040"/>
            <a:ext cx="1874520" cy="27432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AVOIDABLE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32520" y="4059936"/>
            <a:ext cx="1874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COMPLETE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26680" y="4709160"/>
            <a:ext cx="1874520" cy="274320"/>
          </a:xfrm>
          <a:prstGeom prst="rect">
            <a:avLst/>
          </a:prstGeom>
          <a:solidFill>
            <a:srgbClr val="E74C3C"/>
          </a:solidFill>
          <a:ln>
            <a:solidFill>
              <a:srgbClr val="E74C3C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BLOCKED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26680" y="5020056"/>
            <a:ext cx="1874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SAFE_STOP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4892040"/>
            <a:ext cx="5212080" cy="1143000"/>
          </a:xfrm>
          <a:prstGeom prst="rect">
            <a:avLst/>
          </a:prstGeom>
          <a:solidFill>
            <a:srgbClr val="EEF6FF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20 sec mission montage video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Reference Mission &amp; Key Requirements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DRM + MOEs/MOPs</a:t>
            </a:r>
            <a:endParaRPr lang="en-US" sz="1050" dirty="0"/>
          </a:p>
        </p:txBody>
      </p:sp>
      <p:pic>
        <p:nvPicPr>
          <p:cNvPr id="5" name="Image 0" descr="/mnt/data/Reference-Mission-Flow-Diagram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82796"/>
            <a:ext cx="6400800" cy="3326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0" y="841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CORE MEASURES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406640" y="1143000"/>
            <a:ext cx="1645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8A"/>
                </a:solidFill>
              </a:rPr>
              <a:t>≤ 6 min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06640" y="1536192"/>
            <a:ext cx="164592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Mission duration target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18320" y="1143000"/>
            <a:ext cx="19659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8A"/>
                </a:solidFill>
              </a:rPr>
              <a:t>0.20–0.35 m/s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418320" y="1536192"/>
            <a:ext cx="19659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Rover cruise speed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06640" y="2148840"/>
            <a:ext cx="1645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≥ 0.75 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06640" y="2542032"/>
            <a:ext cx="164592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Obstacle detection threshold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418320" y="2148840"/>
            <a:ext cx="19659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≤ 0.35 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418320" y="2542032"/>
            <a:ext cx="19659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Stop-distance target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06640" y="3154680"/>
            <a:ext cx="1645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942"/>
                </a:solidFill>
              </a:rPr>
              <a:t>≥ 1 Hz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06640" y="3547872"/>
            <a:ext cx="164592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Telemetry / status output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418320" y="3154680"/>
            <a:ext cx="19659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942"/>
                </a:solidFill>
              </a:rPr>
              <a:t>0.50 m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418320" y="3547872"/>
            <a:ext cx="19659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Endpoint tolerance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8368" y="4572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MISSION ACCEPTANCE SCENARIOS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8368" y="4864608"/>
            <a:ext cx="60350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13D"/>
                </a:solidFill>
              </a:rPr>
              <a:t>Nominal route, avoidable obstacle, blocked route safe-stop, and sensor/timeout contingency provide requirement-traceable verification coverage.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086600" y="4617720"/>
            <a:ext cx="4389120" cy="914400"/>
          </a:xfrm>
          <a:prstGeom prst="rect">
            <a:avLst/>
          </a:prstGeom>
          <a:solidFill>
            <a:srgbClr val="FFF8E6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insert final requirements traceability table or one-page MOE/MOP snapshot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Simulation model + physical concept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ROVER CONFIGURATION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44348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24313D"/>
                </a:solidFill>
              </a:rPr>
              <a:t>2-wheel differential-drive rover with passive caster support.</a:t>
            </a:r>
            <a:endParaRPr lang="en-US" sz="1500" dirty="0"/>
          </a:p>
          <a:p>
            <a:r>
              <a:rPr lang="en-US" sz="1500" dirty="0">
                <a:solidFill>
                  <a:srgbClr val="24313D"/>
                </a:solidFill>
              </a:rPr>
              <a:t>Encoder-style odometry from drivetrain simulation.</a:t>
            </a:r>
            <a:endParaRPr lang="en-US" sz="1500" dirty="0"/>
          </a:p>
          <a:p>
            <a:r>
              <a:rPr lang="en-US" sz="1500" dirty="0">
                <a:solidFill>
                  <a:srgbClr val="24313D"/>
                </a:solidFill>
              </a:rPr>
              <a:t>2D LiDAR mounted above chassis; IMU mounted near base frame.</a:t>
            </a:r>
            <a:endParaRPr lang="en-US" sz="1500" dirty="0"/>
          </a:p>
          <a:p>
            <a:r>
              <a:rPr lang="en-US" sz="1500" dirty="0">
                <a:solidFill>
                  <a:srgbClr val="24313D"/>
                </a:solidFill>
              </a:rPr>
              <a:t>Simulation-only: no physical build or hardware procurement in baseline.</a:t>
            </a:r>
            <a:endParaRPr lang="en-US" sz="1500" dirty="0"/>
          </a:p>
        </p:txBody>
      </p:sp>
      <p:pic>
        <p:nvPicPr>
          <p:cNvPr id="7" name="Image 0" descr="/mnt/data/image(3).png">    </p:cNvPr>
          <p:cNvPicPr>
            <a:picLocks noChangeAspect="1"/>
          </p:cNvPicPr>
          <p:nvPr/>
        </p:nvPicPr>
        <p:blipFill>
          <a:blip r:embed="rId1"/>
          <a:srcRect l="8000" r="43954" t="15000" b="30000"/>
          <a:stretch/>
        </p:blipFill>
        <p:spPr>
          <a:xfrm>
            <a:off x="5486400" y="822960"/>
            <a:ext cx="603504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822960"/>
            <a:ext cx="603504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840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942"/>
                </a:solidFill>
              </a:rPr>
              <a:t>SUBSYSTEM BASELINE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4160520"/>
            <a:ext cx="1280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Mobility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03120" y="4160520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</a:rPr>
              <a:t>Differential drive + caster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544568"/>
            <a:ext cx="1280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Sensing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03120" y="4544568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</a:rPr>
              <a:t>2D LiDAR, IMU, odometry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4928616"/>
            <a:ext cx="1280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Autonomy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03120" y="4928616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</a:rPr>
              <a:t>Waypoint follower + safety gate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5312664"/>
            <a:ext cx="1280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Reporting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03120" y="5312664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D"/>
                </a:solidFill>
              </a:rPr>
              <a:t>Mission state, health, logs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0" y="4251960"/>
            <a:ext cx="6035040" cy="1280160"/>
          </a:xfrm>
          <a:prstGeom prst="rect">
            <a:avLst/>
          </a:prstGeom>
          <a:solidFill>
            <a:srgbClr val="EEF6FF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insert URDF/SDF link diagram or Gazebo model tree screenshot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Sensing &amp; Navigation Approach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Trade study outcome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SELECTED SENSING OPTION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4937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2D scanning LiDAR selected as the primary obstacle sensing approach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47548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24313D"/>
                </a:solidFill>
              </a:rPr>
              <a:t>Matches indoor corridor geometry: obstacles and walls are primarily in a horizontal scan plane.</a:t>
            </a:r>
            <a:endParaRPr lang="en-US" sz="1450" dirty="0"/>
          </a:p>
          <a:p>
            <a:r>
              <a:rPr lang="en-US" sz="1450" dirty="0">
                <a:solidFill>
                  <a:srgbClr val="24313D"/>
                </a:solidFill>
              </a:rPr>
              <a:t>Lower integration complexity than camera/3D perception for the course prototype.</a:t>
            </a:r>
            <a:endParaRPr lang="en-US" sz="1450" dirty="0"/>
          </a:p>
          <a:p>
            <a:r>
              <a:rPr lang="en-US" sz="1450" dirty="0">
                <a:solidFill>
                  <a:srgbClr val="24313D"/>
                </a:solidFill>
              </a:rPr>
              <a:t>Pairs cleanly with IMU and odometry for rules-based waypoint navigation.</a:t>
            </a:r>
            <a:endParaRPr lang="en-US" sz="1450" dirty="0"/>
          </a:p>
          <a:p>
            <a:r>
              <a:rPr lang="en-US" sz="1450" dirty="0">
                <a:solidFill>
                  <a:srgbClr val="24313D"/>
                </a:solidFill>
              </a:rPr>
              <a:t>SLAM/camera vision reserved as future work.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806440" y="960120"/>
            <a:ext cx="1234440" cy="594360"/>
          </a:xfrm>
          <a:prstGeom prst="rect">
            <a:avLst/>
          </a:prstGeom>
          <a:solidFill>
            <a:srgbClr val="00A6A6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/scan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LaserScan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06440" y="1920240"/>
            <a:ext cx="1234440" cy="594360"/>
          </a:xfrm>
          <a:prstGeom prst="rect">
            <a:avLst/>
          </a:prstGeom>
          <a:solidFill>
            <a:srgbClr val="0B4F8A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/odom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Odometry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06440" y="2880360"/>
            <a:ext cx="1234440" cy="594360"/>
          </a:xfrm>
          <a:prstGeom prst="rect">
            <a:avLst/>
          </a:prstGeom>
          <a:solidFill>
            <a:srgbClr val="F5B942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/imu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IMU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86600" y="1261872"/>
            <a:ext cx="886968" cy="0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86600" y="2221992"/>
            <a:ext cx="886968" cy="-393192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86600" y="3182112"/>
            <a:ext cx="886968" cy="-804672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046720" y="1554480"/>
            <a:ext cx="1508760" cy="868680"/>
          </a:xfrm>
          <a:prstGeom prst="rect">
            <a:avLst/>
          </a:prstGeom>
          <a:solidFill>
            <a:srgbClr val="0B1F33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Route + Safety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Logic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0" y="1993392"/>
            <a:ext cx="777240" cy="0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469880" y="1691640"/>
            <a:ext cx="1234440" cy="594360"/>
          </a:xfrm>
          <a:prstGeom prst="rect">
            <a:avLst/>
          </a:prstGeom>
          <a:solidFill>
            <a:srgbClr val="2ECC71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/cmd_vel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Final command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4617720"/>
            <a:ext cx="3337560" cy="1097280"/>
          </a:xfrm>
          <a:prstGeom prst="rect">
            <a:avLst/>
          </a:prstGeom>
          <a:solidFill>
            <a:srgbClr val="EAF7F7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RViz LaserScan 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4617720"/>
            <a:ext cx="3337560" cy="1097280"/>
          </a:xfrm>
          <a:prstGeom prst="rect">
            <a:avLst/>
          </a:prstGeom>
          <a:solidFill>
            <a:srgbClr val="EEF6FF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TF tree / frame 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18120" y="4617720"/>
            <a:ext cx="3337560" cy="1097280"/>
          </a:xfrm>
          <a:prstGeom prst="rect">
            <a:avLst/>
          </a:prstGeom>
          <a:solidFill>
            <a:srgbClr val="FFF8E6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LiDAR echo + rate screenshot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Autonomy &amp; Software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ROS 2 node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FOUR-NODE AUTONOMY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417320" cy="594360"/>
          </a:xfrm>
          <a:prstGeom prst="rect">
            <a:avLst/>
          </a:prstGeom>
          <a:solidFill>
            <a:srgbClr val="F5B942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/start_mission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Trigger service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03120" y="1709928"/>
            <a:ext cx="777240" cy="0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71800" y="1298448"/>
            <a:ext cx="1828800" cy="804672"/>
          </a:xfrm>
          <a:prstGeom prst="rect">
            <a:avLst/>
          </a:prstGeom>
          <a:solidFill>
            <a:srgbClr val="0B4F8A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mission_manager_node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/state + events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64608" y="1709928"/>
            <a:ext cx="667512" cy="0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623560" y="1298448"/>
            <a:ext cx="1828800" cy="804672"/>
          </a:xfrm>
          <a:prstGeom prst="rect">
            <a:avLst/>
          </a:prstGeom>
          <a:solidFill>
            <a:srgbClr val="00A6A6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route_follower_node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/nominal_cmd_vel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25512" y="1709928"/>
            <a:ext cx="658368" cy="0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75320" y="1298448"/>
            <a:ext cx="1920240" cy="804672"/>
          </a:xfrm>
          <a:prstGeom prst="rect">
            <a:avLst/>
          </a:prstGeom>
          <a:solidFill>
            <a:srgbClr val="E74C3C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obstacle_avoidance_node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final /cmd_vel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259568" y="1709928"/>
            <a:ext cx="667512" cy="0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972800" y="1298448"/>
            <a:ext cx="914400" cy="804672"/>
          </a:xfrm>
          <a:prstGeom prst="rect">
            <a:avLst/>
          </a:prstGeom>
          <a:solidFill>
            <a:srgbClr val="2ECC71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Gazebo rover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Diff-drive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2971800"/>
            <a:ext cx="3383280" cy="685800"/>
          </a:xfrm>
          <a:prstGeom prst="rect">
            <a:avLst/>
          </a:prstGeom>
          <a:solidFill>
            <a:srgbClr val="0B1F33"/>
          </a:solidFill>
          <a:ln>
            <a:solidFill>
              <a:srgbClr val="FFFFFF">
                <a:alpha val="8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telemetry_logger_node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status + CSV + summary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0" cy="777240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77240" y="3154680"/>
            <a:ext cx="3246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F8A"/>
                </a:solidFill>
              </a:rPr>
              <a:t>Key design choice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447288"/>
            <a:ext cx="32461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</a:rPr>
              <a:t>The route follower produces route intent. The obstacle node owns final motion and acts as the safety gate.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3154680"/>
            <a:ext cx="3337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Final obstacle logic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3447288"/>
            <a:ext cx="333756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</a:rPr>
              <a:t>Stateful behavior: CLEAR → AVOIDING → RECOVERING → CLEAR, with BLOCKED safe-stop if no path clears.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5212080" cy="822960"/>
          </a:xfrm>
          <a:prstGeom prst="rect">
            <a:avLst/>
          </a:prstGeom>
          <a:solidFill>
            <a:srgbClr val="EEF6FF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rqt_graph screenshot showing active topics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4800600"/>
            <a:ext cx="5212080" cy="822960"/>
          </a:xfrm>
          <a:prstGeom prst="rect">
            <a:avLst/>
          </a:prstGeom>
          <a:solidFill>
            <a:srgbClr val="F7F1FF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node terminal panes or launch output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Interface &amp; Mission Planning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Operator workflow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OPERATOR FLOW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347472" cy="347472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Select world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246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clear / avoidable / blocked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47472" cy="347472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883664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Start stack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2130552"/>
            <a:ext cx="3246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Gazebo + spawn + bridges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615184"/>
            <a:ext cx="347472" cy="347472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596896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Launch nodes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2843784"/>
            <a:ext cx="3246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manager, route, safety, logger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328416"/>
            <a:ext cx="347472" cy="347472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Send START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3557016"/>
            <a:ext cx="3246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/start_mission Trigger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041648"/>
            <a:ext cx="347472" cy="347472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Review status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4270248"/>
            <a:ext cx="3246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dashboard + summary log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74920" y="868680"/>
            <a:ext cx="6309360" cy="2514600"/>
          </a:xfrm>
          <a:prstGeom prst="rect">
            <a:avLst/>
          </a:prstGeom>
          <a:solidFill>
            <a:srgbClr val="F5FBFF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terminal dashboard / telemetry_logger live output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3749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942"/>
                </a:solidFill>
              </a:rPr>
              <a:t>MISSION PLANNING MODES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069080"/>
            <a:ext cx="1874520" cy="274320"/>
          </a:xfrm>
          <a:prstGeom prst="rect">
            <a:avLst/>
          </a:prstGeom>
          <a:solidFill>
            <a:srgbClr val="2ECC71"/>
          </a:solidFill>
          <a:ln>
            <a:solidFill>
              <a:srgbClr val="2ECC71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4379976"/>
            <a:ext cx="1874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nominal completion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4069080"/>
            <a:ext cx="1874520" cy="27432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avoidable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4379976"/>
            <a:ext cx="1874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avoid + recover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64040" y="4069080"/>
            <a:ext cx="1874520" cy="274320"/>
          </a:xfrm>
          <a:prstGeom prst="rect">
            <a:avLst/>
          </a:prstGeom>
          <a:solidFill>
            <a:srgbClr val="E74C3C"/>
          </a:solidFill>
          <a:ln>
            <a:solidFill>
              <a:srgbClr val="E74C3C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blocked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64040" y="4379976"/>
            <a:ext cx="1874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safe-stop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5212080"/>
            <a:ext cx="6126480" cy="685800"/>
          </a:xfrm>
          <a:prstGeom prst="rect">
            <a:avLst/>
          </a:prstGeom>
          <a:solidFill>
            <a:srgbClr val="FFF8E6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insert short screen recording of operator start command + dashboard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Demonstration &amp; Verification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Scenario evidence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TEST MATRIX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188720" cy="274320"/>
          </a:xfrm>
          <a:prstGeom prst="rect">
            <a:avLst/>
          </a:prstGeom>
          <a:solidFill>
            <a:srgbClr val="0B1F33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Scenario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1828800" cy="274320"/>
          </a:xfrm>
          <a:prstGeom prst="rect">
            <a:avLst/>
          </a:prstGeom>
          <a:solidFill>
            <a:srgbClr val="0B1F33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World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06240" y="1234440"/>
            <a:ext cx="1828800" cy="274320"/>
          </a:xfrm>
          <a:prstGeom prst="rect">
            <a:avLst/>
          </a:prstGeom>
          <a:solidFill>
            <a:srgbClr val="0B1F33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Expected outcome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1828800" cy="274320"/>
          </a:xfrm>
          <a:prstGeom prst="rect">
            <a:avLst/>
          </a:prstGeom>
          <a:solidFill>
            <a:srgbClr val="0B1F33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78240" y="1234440"/>
            <a:ext cx="1828800" cy="274320"/>
          </a:xfrm>
          <a:prstGeom prst="rect">
            <a:avLst/>
          </a:prstGeom>
          <a:solidFill>
            <a:srgbClr val="0B1F33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Video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1581912"/>
            <a:ext cx="11887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SCN-1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03120" y="1581912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clear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06240" y="1581912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COMPLETE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1581912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summary + progress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8240" y="1581912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clip 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2020824"/>
            <a:ext cx="118872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SCN-2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03120" y="2020824"/>
            <a:ext cx="182880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avoidable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06240" y="2020824"/>
            <a:ext cx="182880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AVOID + COMPLETE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020824"/>
            <a:ext cx="182880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status history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8240" y="2020824"/>
            <a:ext cx="182880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clip B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2459736"/>
            <a:ext cx="11887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SCN-3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03120" y="24597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blocked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06240" y="24597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BLOCKED + SAFE_STOP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24597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event + final cmd=0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0" y="24597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clip 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2898648"/>
            <a:ext cx="118872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SCN-4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103120" y="2898648"/>
            <a:ext cx="182880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sensor/timeout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06240" y="2898648"/>
            <a:ext cx="182880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SENSOR_INVALID or TIMEOUT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0" y="2898648"/>
            <a:ext cx="182880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optional log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78240" y="2898648"/>
            <a:ext cx="1828800" cy="292608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clip 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3794760"/>
            <a:ext cx="2743200" cy="1417320"/>
          </a:xfrm>
          <a:prstGeom prst="rect">
            <a:avLst/>
          </a:prstGeom>
          <a:solidFill>
            <a:srgbClr val="EAF7EA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VIDEO PLACEHOLDER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Clear route completion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03320" y="3794760"/>
            <a:ext cx="2743200" cy="1417320"/>
          </a:xfrm>
          <a:prstGeom prst="rect">
            <a:avLst/>
          </a:prstGeom>
          <a:solidFill>
            <a:srgbClr val="EAF7F7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VIDEO PLACEHOLDER 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Avoidable obstacle + recovery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3794760"/>
            <a:ext cx="2743200" cy="1417320"/>
          </a:xfrm>
          <a:prstGeom prst="rect">
            <a:avLst/>
          </a:prstGeom>
          <a:solidFill>
            <a:srgbClr val="FCEEEE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VIDEO PLACEHOLDER 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Blocked route SAFE_STOP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38360" y="3794760"/>
            <a:ext cx="1874520" cy="1417320"/>
          </a:xfrm>
          <a:prstGeom prst="rect">
            <a:avLst/>
          </a:prstGeom>
          <a:solidFill>
            <a:srgbClr val="FFF8E6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VIDEO PLACEHOLDER 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Sensor/timeout contingency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5687568"/>
            <a:ext cx="9601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D"/>
                </a:solidFill>
              </a:rPr>
              <a:t>Record each run with Gazebo view + telemetry terminal visible. Keep clips short: 20–40 sec each, then show mission summary line item.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Evidence: Clear + Avoidable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Results from simulation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</a:rPr>
              <a:t>CLEAR ROUTE RESULT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COMPLETE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16002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Final state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143000"/>
            <a:ext cx="1143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31720" y="1536192"/>
            <a:ext cx="11430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Progress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1143000"/>
            <a:ext cx="1325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54.14 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0" y="1536192"/>
            <a:ext cx="132588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Elapsed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AVOIDABLE OBSTACLE RESULT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724912"/>
            <a:ext cx="1600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COMPLETE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3118104"/>
            <a:ext cx="16002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Final state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31720" y="2724912"/>
            <a:ext cx="1143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31720" y="3118104"/>
            <a:ext cx="11430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Progress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0" y="2724912"/>
            <a:ext cx="1325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60.61 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0" y="3118104"/>
            <a:ext cx="132588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Elapsed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46177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13D"/>
                </a:solidFill>
              </a:rPr>
              <a:t>Obstacle status sequence proved: CLEAR_PASS_THROUGH → AVOIDING_LEFT → AVOIDANCE_CLEAR_RECOVERING → RECOVERING_TO_ROUTE → RECOVERY_COMPLETE → CLEAR_PASS_THROUGH → COMPLETE.</a:t>
            </a:r>
            <a:endParaRPr lang="en-US" sz="1250" dirty="0"/>
          </a:p>
        </p:txBody>
      </p:sp>
      <p:pic>
        <p:nvPicPr>
          <p:cNvPr id="20" name="Image 0" descr="/mnt/data/image(9).png">    </p:cNvPr>
          <p:cNvPicPr>
            <a:picLocks noChangeAspect="1"/>
          </p:cNvPicPr>
          <p:nvPr/>
        </p:nvPicPr>
        <p:blipFill>
          <a:blip r:embed="rId1"/>
          <a:srcRect l="5000" r="25439" t="10000" b="32000"/>
          <a:stretch/>
        </p:blipFill>
        <p:spPr>
          <a:xfrm>
            <a:off x="5760720" y="822960"/>
            <a:ext cx="5760720" cy="2834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760720" y="3886200"/>
            <a:ext cx="2743200" cy="1234440"/>
          </a:xfrm>
          <a:prstGeom prst="rect">
            <a:avLst/>
          </a:prstGeom>
          <a:solidFill>
            <a:srgbClr val="EAF7F7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paste final avoidable video or replace screenshot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778240" y="3886200"/>
            <a:ext cx="2743200" cy="1234440"/>
          </a:xfrm>
          <a:prstGeom prst="rect">
            <a:avLst/>
          </a:prstGeom>
          <a:solidFill>
            <a:srgbClr val="F8FBFF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paste mission_summary lines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Final state / progress / status history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Evidence: Blocked Route + Contingency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Safe-stop behavior</a:t>
            </a:r>
            <a:endParaRPr lang="en-US" sz="1050" dirty="0"/>
          </a:p>
        </p:txBody>
      </p:sp>
      <p:pic>
        <p:nvPicPr>
          <p:cNvPr id="5" name="Image 0" descr="/mnt/data/image(11).png">    </p:cNvPr>
          <p:cNvPicPr>
            <a:picLocks noChangeAspect="1"/>
          </p:cNvPicPr>
          <p:nvPr/>
        </p:nvPicPr>
        <p:blipFill>
          <a:blip r:embed="rId1"/>
          <a:srcRect l="2000" r="-38299" t="2000" b="6000"/>
          <a:stretch/>
        </p:blipFill>
        <p:spPr>
          <a:xfrm>
            <a:off x="594360" y="822960"/>
            <a:ext cx="530352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8412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BLOCKED ROUTE RESULT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00800" y="1143000"/>
            <a:ext cx="1828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</a:rPr>
              <a:t>SAFE_STOP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1536192"/>
            <a:ext cx="18288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Final state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0" y="1143000"/>
            <a:ext cx="1828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</a:rPr>
              <a:t>BLOCKED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412480" y="1536192"/>
            <a:ext cx="18288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Last mission event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241280" y="1143000"/>
            <a:ext cx="914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</a:rPr>
              <a:t>75%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41280" y="1536192"/>
            <a:ext cx="9144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D"/>
                </a:solidFill>
              </a:rPr>
              <a:t>Progress before stop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0" y="2331720"/>
            <a:ext cx="48463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13D"/>
                </a:solidFill>
              </a:rPr>
              <a:t>Obstacle history showed repeated avoidance/recovery attempts, then BLOCKED_SAFE_STOP after the path did not clear. Final /cmd_vel was zero.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4663440"/>
            <a:ext cx="3017520" cy="868680"/>
          </a:xfrm>
          <a:prstGeom prst="rect">
            <a:avLst/>
          </a:prstGeom>
          <a:solidFill>
            <a:srgbClr val="FCEEEE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blocked-world video clip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977640" y="4663440"/>
            <a:ext cx="3840480" cy="868680"/>
          </a:xfrm>
          <a:prstGeom prst="rect">
            <a:avLst/>
          </a:prstGeom>
          <a:solidFill>
            <a:srgbClr val="FFF8E6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sensor/timeout contingency screenshot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(e.g., stale /scan → SENSOR_INVALID → SAFE_STOP)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92440" y="4663440"/>
            <a:ext cx="3200400" cy="868680"/>
          </a:xfrm>
          <a:prstGeom prst="rect">
            <a:avLst/>
          </a:prstGeom>
          <a:solidFill>
            <a:srgbClr val="F8FBFF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final log lines / event history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Cost, Maturity, and Major Risks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Risk management + production readiness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COST POSTURE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4983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Baseline course product is software-only; physical production cost remains a future prototype estimate.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1993392"/>
            <a:ext cx="4800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24313D"/>
                </a:solidFill>
              </a:rPr>
              <a:t>No physical procurement required for baseline demonstration.</a:t>
            </a:r>
            <a:endParaRPr lang="en-US" sz="1350" dirty="0"/>
          </a:p>
          <a:p>
            <a:r>
              <a:rPr lang="en-US" sz="1350" dirty="0">
                <a:solidFill>
                  <a:srgbClr val="24313D"/>
                </a:solidFill>
              </a:rPr>
              <a:t>Reusable open-source stack: ROS 2 Humble, Gazebo/Ignition, Python rclpy.</a:t>
            </a:r>
            <a:endParaRPr lang="en-US" sz="1350" dirty="0"/>
          </a:p>
          <a:p>
            <a:r>
              <a:rPr lang="en-US" sz="1350" dirty="0">
                <a:solidFill>
                  <a:srgbClr val="24313D"/>
                </a:solidFill>
              </a:rPr>
              <a:t>Future physical unit would require drivetrain, compute, battery, LiDAR/range sensor, IMU, enclosure, and operator interface.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89320" y="841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MAJOR RISKS AND MITIGATIONS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5040" y="1143000"/>
            <a:ext cx="1965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Obstacle oscillation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92440" y="1143000"/>
            <a:ext cx="3246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Stateful avoidance + recovery + world scenario separation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0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False COMPLETE while stuck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92440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Waypoint pass logic + final endpoint strictness + logs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0" y="2514600"/>
            <a:ext cx="1965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Blocked route ambiguity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92440" y="2514600"/>
            <a:ext cx="3246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Front blocked timeout → BLOCKED event → SAFE_STOP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0" y="3200400"/>
            <a:ext cx="1965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Sensor loss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92440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13D"/>
                </a:solidFill>
              </a:rPr>
              <a:t>Stale scan/health watchdog → SENSOR_INVALID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MATURITY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4480560"/>
            <a:ext cx="2743200" cy="329184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Current: simulation prototype / SITL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03320" y="4480560"/>
            <a:ext cx="3063240" cy="329184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Next: HITL + physical rover prototype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86600" y="4480560"/>
            <a:ext cx="3063240" cy="329184"/>
          </a:xfrm>
          <a:prstGeom prst="rect">
            <a:avLst/>
          </a:prstGeom>
          <a:solidFill>
            <a:srgbClr val="F5B942"/>
          </a:solidFill>
          <a:ln>
            <a:solidFill>
              <a:srgbClr val="F5B94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Future: SLAM/Nav2/camera integration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5166360"/>
            <a:ext cx="10698480" cy="685800"/>
          </a:xfrm>
          <a:prstGeom prst="rect">
            <a:avLst/>
          </a:prstGeom>
          <a:solidFill>
            <a:srgbClr val="FFF8E6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optional risk matrix from Assignment 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595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Summary, Remaining Work, and Schedule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EBFF"/>
                </a:solidFill>
              </a:rPr>
              <a:t>Decision path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Current result: the simulation now demonstrates the three core mission behaviors required for the final system story.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89320" y="1508760"/>
            <a:ext cx="1874520" cy="274320"/>
          </a:xfrm>
          <a:prstGeom prst="rect">
            <a:avLst/>
          </a:prstGeom>
          <a:solidFill>
            <a:srgbClr val="2ECC71"/>
          </a:solidFill>
          <a:ln>
            <a:solidFill>
              <a:srgbClr val="2ECC71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89320" y="1819656"/>
            <a:ext cx="1874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COMPLETE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1508760"/>
            <a:ext cx="1874520" cy="27432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avoidable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1819656"/>
            <a:ext cx="1874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COMPLETE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04120" y="1508760"/>
            <a:ext cx="1874520" cy="274320"/>
          </a:xfrm>
          <a:prstGeom prst="rect">
            <a:avLst/>
          </a:prstGeom>
          <a:solidFill>
            <a:srgbClr val="E74C3C"/>
          </a:solidFill>
          <a:ln>
            <a:solidFill>
              <a:srgbClr val="E74C3C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blocked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04120" y="1819656"/>
            <a:ext cx="1874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SAFE_STOP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942"/>
                </a:solidFill>
              </a:rPr>
              <a:t>REMAINING WORK BEFORE FINAL SUBMISSION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53492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24313D"/>
                </a:solidFill>
              </a:rPr>
              <a:t>Record final demo clips for clear, avoidable, blocked, and optional sensor contingency scenarios.</a:t>
            </a:r>
            <a:endParaRPr lang="en-US" sz="1450" dirty="0"/>
          </a:p>
          <a:p>
            <a:r>
              <a:rPr lang="en-US" sz="1450" dirty="0">
                <a:solidFill>
                  <a:srgbClr val="24313D"/>
                </a:solidFill>
              </a:rPr>
              <a:t>Capture rqt_graph, RViz/TF, Gazebo view, and telemetry dashboard screenshots.</a:t>
            </a:r>
            <a:endParaRPr lang="en-US" sz="1450" dirty="0"/>
          </a:p>
          <a:p>
            <a:r>
              <a:rPr lang="en-US" sz="1450" dirty="0">
                <a:solidFill>
                  <a:srgbClr val="24313D"/>
                </a:solidFill>
              </a:rPr>
              <a:t>Clean up final report language: rules-based waypoint following, not SLAM/Nav2/A*.</a:t>
            </a:r>
            <a:endParaRPr lang="en-US" sz="1450" dirty="0"/>
          </a:p>
          <a:p>
            <a:r>
              <a:rPr lang="en-US" sz="1450" dirty="0">
                <a:solidFill>
                  <a:srgbClr val="24313D"/>
                </a:solidFill>
              </a:rPr>
              <a:t>Add final summary logs and screenshots into slides.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29260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A6"/>
                </a:solidFill>
              </a:rPr>
              <a:t>JULY 2026 PATH TO PRODUCTION DECISION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86600" y="4251960"/>
            <a:ext cx="822960" cy="0"/>
          </a:xfrm>
          <a:prstGeom prst="line">
            <a:avLst/>
          </a:prstGeom>
          <a:noFill/>
          <a:ln w="15240">
            <a:solidFill>
              <a:srgbClr val="7A8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886200"/>
            <a:ext cx="960120" cy="274320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Week 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29400" y="4434840"/>
            <a:ext cx="1097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13D"/>
                </a:solidFill>
              </a:rPr>
              <a:t>Finalize tests + evidence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321040" y="4251960"/>
            <a:ext cx="822960" cy="0"/>
          </a:xfrm>
          <a:prstGeom prst="line">
            <a:avLst/>
          </a:prstGeom>
          <a:noFill/>
          <a:ln w="15240">
            <a:solidFill>
              <a:srgbClr val="7A8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3886200"/>
            <a:ext cx="960120" cy="274320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Week 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63840" y="4434840"/>
            <a:ext cx="1097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13D"/>
                </a:solidFill>
              </a:rPr>
              <a:t>Polish deck + record demo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555480" y="4251960"/>
            <a:ext cx="822960" cy="0"/>
          </a:xfrm>
          <a:prstGeom prst="line">
            <a:avLst/>
          </a:prstGeom>
          <a:noFill/>
          <a:ln w="15240">
            <a:solidFill>
              <a:srgbClr val="7A8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3886200"/>
            <a:ext cx="960120" cy="274320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Week 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98280" y="4434840"/>
            <a:ext cx="1097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13D"/>
                </a:solidFill>
              </a:rPr>
              <a:t>Contingency + report cleanup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0789920" y="4251960"/>
            <a:ext cx="822960" cy="0"/>
          </a:xfrm>
          <a:prstGeom prst="line">
            <a:avLst/>
          </a:prstGeom>
          <a:noFill/>
          <a:ln w="15240">
            <a:solidFill>
              <a:srgbClr val="7A8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3886200"/>
            <a:ext cx="960120" cy="274320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Week 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332720" y="4434840"/>
            <a:ext cx="1097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13D"/>
                </a:solidFill>
              </a:rPr>
              <a:t>Decision: extend sim / pursue hardware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85800" y="5257800"/>
            <a:ext cx="10789920" cy="685800"/>
          </a:xfrm>
          <a:prstGeom prst="rect">
            <a:avLst/>
          </a:prstGeom>
          <a:solidFill>
            <a:srgbClr val="EEF6FF"/>
          </a:solidFill>
          <a:ln w="15240">
            <a:solidFill>
              <a:srgbClr val="7A88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D"/>
                </a:solidFill>
              </a:rPr>
              <a:t>PLACEHOLDER: final slide can include one short combined demo video or QR/link to repository/video folder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" y="65562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</a:rPr>
              <a:t>EEL 5606 | Simulation-Based Autonomous UGV | Justin Kwarteng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Florida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Simulation-Based Autonomous UGV for Indoor Shipyard Corridor Inspection</dc:title>
  <dc:subject>EEL 5606 Final Presentation</dc:subject>
  <dc:creator>Justin Kwarteng</dc:creator>
  <cp:lastModifiedBy>Justin Kwarteng</cp:lastModifiedBy>
  <cp:revision>1</cp:revision>
  <dcterms:created xsi:type="dcterms:W3CDTF">2026-07-18T14:32:55Z</dcterms:created>
  <dcterms:modified xsi:type="dcterms:W3CDTF">2026-07-18T14:32:55Z</dcterms:modified>
</cp:coreProperties>
</file>